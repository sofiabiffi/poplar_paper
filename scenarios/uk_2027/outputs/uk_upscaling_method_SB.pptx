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715500" cy="7199313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20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6AF9ABC-23BB-4FD8-A42C-CB4D10B5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2719764"/>
            <a:ext cx="7772400" cy="103991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8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70FD896-076D-4207-A9E5-0BEE6C560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7325" y="3959657"/>
            <a:ext cx="6800850" cy="79993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E0EE8B4-9083-46F6-9D7E-762061BE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2999740"/>
            <a:ext cx="7772400" cy="119989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001450A-5D46-4DEC-B548-5821DD97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497" y="559951"/>
            <a:ext cx="8622506" cy="87992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1A65211-4CD5-428E-9FF4-8D162A785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497" y="1999827"/>
            <a:ext cx="8622506" cy="447961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16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25053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67941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10828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5371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96603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639491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882378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12526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2E7AE7F-380B-4086-9752-5BD54DD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497" y="559951"/>
            <a:ext cx="8622506" cy="87992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5516405-934F-4DDC-BE58-B3A83FC37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497" y="1999827"/>
            <a:ext cx="4007644" cy="447961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16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25053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67941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10828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5371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96603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639491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882378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12526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61F8124-9F95-49C3-B6B9-79F39F0DF43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161359" y="1999827"/>
            <a:ext cx="4007644" cy="447961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16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25053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67941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10828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5371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96603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639491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882378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12526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6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D77F584-2759-42BF-9D19-B04B65A79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497" y="559951"/>
            <a:ext cx="8622506" cy="87992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C8186B4-2502-4D0E-9214-F6BBE0D86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6497" y="1999827"/>
            <a:ext cx="4007644" cy="447961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16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25053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67941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10828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15371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96603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639491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882378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125266" indent="-182166" algn="l">
              <a:lnSpc>
                <a:spcPct val="110000"/>
              </a:lnSpc>
              <a:spcBef>
                <a:spcPts val="0"/>
              </a:spcBef>
              <a:spcAft>
                <a:spcPts val="956"/>
              </a:spcAft>
              <a:buChar char="•"/>
              <a:defRPr sz="17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UK tree planting targets">
            <a:extLst>
              <a:ext uri="{FF2B5EF4-FFF2-40B4-BE49-F238E27FC236}">
                <a16:creationId xmlns:a16="http://schemas.microsoft.com/office/drawing/2014/main" id="{E6BEDF09-0698-45D6-838E-0BDC6F85AC54}"/>
              </a:ext>
            </a:extLst>
          </p:cNvPr>
          <p:cNvSpPr>
            <a:spLocks noGrp="1"/>
          </p:cNvSpPr>
          <p:nvPr/>
        </p:nvSpPr>
        <p:spPr>
          <a:xfrm>
            <a:off x="419100" y="57293"/>
            <a:ext cx="4248150" cy="104775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" name="UK tree planting targets">
            <a:extLst>
              <a:ext uri="{FF2B5EF4-FFF2-40B4-BE49-F238E27FC236}">
                <a16:creationId xmlns:a16="http://schemas.microsoft.com/office/drawing/2014/main" id="{DC3B05A7-2825-4E99-AA30-E371044BD576}"/>
              </a:ext>
            </a:extLst>
          </p:cNvPr>
          <p:cNvSpPr>
            <a:spLocks noGrp="1"/>
          </p:cNvSpPr>
          <p:nvPr/>
        </p:nvSpPr>
        <p:spPr>
          <a:xfrm>
            <a:off x="466725" y="66818"/>
            <a:ext cx="41529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UK tree planting targets</a:t>
            </a:r>
          </a:p>
        </p:txBody>
      </p:sp>
      <p:sp>
        <p:nvSpPr>
          <p:cNvPr id="3" name="Permanent grassland: 5.985m ha × 14% = 837,900 ha">
            <a:extLst>
              <a:ext uri="{FF2B5EF4-FFF2-40B4-BE49-F238E27FC236}">
                <a16:creationId xmlns:a16="http://schemas.microsoft.com/office/drawing/2014/main" id="{C78FD1A3-F300-490C-972B-3962924CB1F4}"/>
              </a:ext>
            </a:extLst>
          </p:cNvPr>
          <p:cNvSpPr>
            <a:spLocks noGrp="1"/>
          </p:cNvSpPr>
          <p:nvPr/>
        </p:nvSpPr>
        <p:spPr>
          <a:xfrm>
            <a:off x="514350" y="295418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Permanent grassland: 5.985m ha × 14% = 837,900 ha</a:t>
            </a:r>
          </a:p>
        </p:txBody>
      </p:sp>
      <p:sp>
        <p:nvSpPr>
          <p:cNvPr id="4" name="Croppable land: 6.1m ha × 7% = 427,000 ha">
            <a:extLst>
              <a:ext uri="{FF2B5EF4-FFF2-40B4-BE49-F238E27FC236}">
                <a16:creationId xmlns:a16="http://schemas.microsoft.com/office/drawing/2014/main" id="{EF30FE76-6B10-49EA-9656-08C4B0BD11FF}"/>
              </a:ext>
            </a:extLst>
          </p:cNvPr>
          <p:cNvSpPr>
            <a:spLocks noGrp="1"/>
          </p:cNvSpPr>
          <p:nvPr/>
        </p:nvSpPr>
        <p:spPr>
          <a:xfrm>
            <a:off x="514350" y="471631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Croppable</a:t>
            </a: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land: 6.1</a:t>
            </a:r>
            <a:r>
              <a:rPr lang="en-GB"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 </a:t>
            </a: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 ha × 7% = 427,000 ha</a:t>
            </a:r>
          </a:p>
        </p:txBody>
      </p:sp>
      <p:sp>
        <p:nvSpPr>
          <p:cNvPr id="5" name="Cropped land: 4.1m ha × 7% = 287,000 ha">
            <a:extLst>
              <a:ext uri="{FF2B5EF4-FFF2-40B4-BE49-F238E27FC236}">
                <a16:creationId xmlns:a16="http://schemas.microsoft.com/office/drawing/2014/main" id="{A622FD68-FDC6-4251-9D19-37EC605B789C}"/>
              </a:ext>
            </a:extLst>
          </p:cNvPr>
          <p:cNvSpPr>
            <a:spLocks noGrp="1"/>
          </p:cNvSpPr>
          <p:nvPr/>
        </p:nvSpPr>
        <p:spPr>
          <a:xfrm>
            <a:off x="514350" y="647843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Cropped land: 4.</a:t>
            </a:r>
            <a:r>
              <a:rPr lang="en-GB"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089 </a:t>
            </a: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 ha × 7% = 287,000 ha</a:t>
            </a:r>
          </a:p>
        </p:txBody>
      </p:sp>
      <p:sp>
        <p:nvSpPr>
          <p:cNvPr id="6" name="(croppable and cropped are alternatives)">
            <a:extLst>
              <a:ext uri="{FF2B5EF4-FFF2-40B4-BE49-F238E27FC236}">
                <a16:creationId xmlns:a16="http://schemas.microsoft.com/office/drawing/2014/main" id="{DC177B9D-BD22-4A51-B6D2-68A2735956C6}"/>
              </a:ext>
            </a:extLst>
          </p:cNvPr>
          <p:cNvSpPr>
            <a:spLocks noGrp="1"/>
          </p:cNvSpPr>
          <p:nvPr/>
        </p:nvSpPr>
        <p:spPr>
          <a:xfrm>
            <a:off x="514350" y="824056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(croppable and cropped are alternatives)</a:t>
            </a:r>
          </a:p>
        </p:txBody>
      </p:sp>
      <p:sp>
        <p:nvSpPr>
          <p:cNvPr id="7" name="Observed tree growth">
            <a:extLst>
              <a:ext uri="{FF2B5EF4-FFF2-40B4-BE49-F238E27FC236}">
                <a16:creationId xmlns:a16="http://schemas.microsoft.com/office/drawing/2014/main" id="{67109250-FC06-433D-9562-8D66F23F31B6}"/>
              </a:ext>
            </a:extLst>
          </p:cNvPr>
          <p:cNvSpPr>
            <a:spLocks noGrp="1"/>
          </p:cNvSpPr>
          <p:nvPr/>
        </p:nvSpPr>
        <p:spPr>
          <a:xfrm>
            <a:off x="5048250" y="57293"/>
            <a:ext cx="4248150" cy="104775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Observed tree growth">
            <a:extLst>
              <a:ext uri="{FF2B5EF4-FFF2-40B4-BE49-F238E27FC236}">
                <a16:creationId xmlns:a16="http://schemas.microsoft.com/office/drawing/2014/main" id="{73D7F15F-8C41-4F3F-AD8C-7A6DA6269647}"/>
              </a:ext>
            </a:extLst>
          </p:cNvPr>
          <p:cNvSpPr>
            <a:spLocks noGrp="1"/>
          </p:cNvSpPr>
          <p:nvPr/>
        </p:nvSpPr>
        <p:spPr>
          <a:xfrm>
            <a:off x="5095875" y="66818"/>
            <a:ext cx="41529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 tree growth</a:t>
            </a:r>
          </a:p>
        </p:txBody>
      </p:sp>
      <p:sp>
        <p:nvSpPr>
          <p:cNvPr id="9" name="45 Trichobel trees">
            <a:extLst>
              <a:ext uri="{FF2B5EF4-FFF2-40B4-BE49-F238E27FC236}">
                <a16:creationId xmlns:a16="http://schemas.microsoft.com/office/drawing/2014/main" id="{8354C2A4-B8CA-4AF3-B1A0-E51B44860EF0}"/>
              </a:ext>
            </a:extLst>
          </p:cNvPr>
          <p:cNvSpPr>
            <a:spLocks noGrp="1"/>
          </p:cNvSpPr>
          <p:nvPr/>
        </p:nvSpPr>
        <p:spPr>
          <a:xfrm>
            <a:off x="5143500" y="295418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 Trichobel trees</a:t>
            </a:r>
          </a:p>
        </p:txBody>
      </p:sp>
      <p:sp>
        <p:nvSpPr>
          <p:cNvPr id="10" name="Diameters converted to dry biomass per tree">
            <a:extLst>
              <a:ext uri="{FF2B5EF4-FFF2-40B4-BE49-F238E27FC236}">
                <a16:creationId xmlns:a16="http://schemas.microsoft.com/office/drawing/2014/main" id="{30C72A86-7706-4AF3-B7DD-855A600C1E08}"/>
              </a:ext>
            </a:extLst>
          </p:cNvPr>
          <p:cNvSpPr>
            <a:spLocks noGrp="1"/>
          </p:cNvSpPr>
          <p:nvPr/>
        </p:nvSpPr>
        <p:spPr>
          <a:xfrm>
            <a:off x="5143500" y="471631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Diameters converted to dry biomass per tree</a:t>
            </a:r>
          </a:p>
        </p:txBody>
      </p:sp>
      <p:sp>
        <p:nvSpPr>
          <p:cNvPr id="11" name="Average dry biomass across trees at each visit">
            <a:extLst>
              <a:ext uri="{FF2B5EF4-FFF2-40B4-BE49-F238E27FC236}">
                <a16:creationId xmlns:a16="http://schemas.microsoft.com/office/drawing/2014/main" id="{C7F7C1F8-5E18-4F7D-A588-A1E08E7B5055}"/>
              </a:ext>
            </a:extLst>
          </p:cNvPr>
          <p:cNvSpPr>
            <a:spLocks noGrp="1"/>
          </p:cNvSpPr>
          <p:nvPr/>
        </p:nvSpPr>
        <p:spPr>
          <a:xfrm>
            <a:off x="5143500" y="647843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dry biomass across trees at each visit</a:t>
            </a:r>
          </a:p>
        </p:txBody>
      </p:sp>
      <p:sp>
        <p:nvSpPr>
          <p:cNvPr id="12" name="Observed ages 1-31">
            <a:extLst>
              <a:ext uri="{FF2B5EF4-FFF2-40B4-BE49-F238E27FC236}">
                <a16:creationId xmlns:a16="http://schemas.microsoft.com/office/drawing/2014/main" id="{68AB6035-DC69-46CC-990C-6DE073951DC3}"/>
              </a:ext>
            </a:extLst>
          </p:cNvPr>
          <p:cNvSpPr>
            <a:spLocks noGrp="1"/>
          </p:cNvSpPr>
          <p:nvPr/>
        </p:nvSpPr>
        <p:spPr>
          <a:xfrm>
            <a:off x="5143500" y="824056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Observed ages 1-31</a:t>
            </a:r>
          </a:p>
        </p:txBody>
      </p:sp>
      <p:sp>
        <p:nvSpPr>
          <p:cNvPr id="13" name="Planting rate and layout">
            <a:extLst>
              <a:ext uri="{FF2B5EF4-FFF2-40B4-BE49-F238E27FC236}">
                <a16:creationId xmlns:a16="http://schemas.microsoft.com/office/drawing/2014/main" id="{C9AFAEC0-7FCB-452F-975A-36732CF58C52}"/>
              </a:ext>
            </a:extLst>
          </p:cNvPr>
          <p:cNvSpPr>
            <a:spLocks noGrp="1"/>
          </p:cNvSpPr>
          <p:nvPr/>
        </p:nvSpPr>
        <p:spPr>
          <a:xfrm>
            <a:off x="419100" y="1486043"/>
            <a:ext cx="4248150" cy="1009650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Planting rate and layout">
            <a:extLst>
              <a:ext uri="{FF2B5EF4-FFF2-40B4-BE49-F238E27FC236}">
                <a16:creationId xmlns:a16="http://schemas.microsoft.com/office/drawing/2014/main" id="{1F57FA08-E414-4E0F-959F-9611AC775417}"/>
              </a:ext>
            </a:extLst>
          </p:cNvPr>
          <p:cNvSpPr>
            <a:spLocks noGrp="1"/>
          </p:cNvSpPr>
          <p:nvPr/>
        </p:nvSpPr>
        <p:spPr>
          <a:xfrm>
            <a:off x="466725" y="1495568"/>
            <a:ext cx="41529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Planting rate and layout</a:t>
            </a:r>
          </a:p>
        </p:txBody>
      </p:sp>
      <p:sp>
        <p:nvSpPr>
          <p:cNvPr id="15" name="All planted in 2027 OR constant rate between 2027-2050">
            <a:extLst>
              <a:ext uri="{FF2B5EF4-FFF2-40B4-BE49-F238E27FC236}">
                <a16:creationId xmlns:a16="http://schemas.microsoft.com/office/drawing/2014/main" id="{D820BA9F-A165-425F-9D3B-4D8D6BA21147}"/>
              </a:ext>
            </a:extLst>
          </p:cNvPr>
          <p:cNvSpPr>
            <a:spLocks noGrp="1"/>
          </p:cNvSpPr>
          <p:nvPr/>
        </p:nvSpPr>
        <p:spPr>
          <a:xfrm>
            <a:off x="514350" y="1724168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2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planted in 2027 OR constant rate between 2027-2050</a:t>
            </a:r>
          </a:p>
        </p:txBody>
      </p:sp>
      <p:sp>
        <p:nvSpPr>
          <p:cNvPr id="16" name="Cropland: 47.62 trees/ha; 2m strips / 30m rows">
            <a:extLst>
              <a:ext uri="{FF2B5EF4-FFF2-40B4-BE49-F238E27FC236}">
                <a16:creationId xmlns:a16="http://schemas.microsoft.com/office/drawing/2014/main" id="{0060B49B-0D25-4A81-860C-09F1F5CAF143}"/>
              </a:ext>
            </a:extLst>
          </p:cNvPr>
          <p:cNvSpPr>
            <a:spLocks noGrp="1"/>
          </p:cNvSpPr>
          <p:nvPr/>
        </p:nvSpPr>
        <p:spPr>
          <a:xfrm>
            <a:off x="514350" y="1897523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2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Cropland: 47.62 trees/ha; 2m strips / 30m rows</a:t>
            </a:r>
          </a:p>
        </p:txBody>
      </p:sp>
      <p:sp>
        <p:nvSpPr>
          <p:cNvPr id="17" name="Grassland: 166 trees/ha; 2m strips / 10m rows">
            <a:extLst>
              <a:ext uri="{FF2B5EF4-FFF2-40B4-BE49-F238E27FC236}">
                <a16:creationId xmlns:a16="http://schemas.microsoft.com/office/drawing/2014/main" id="{29D63E2D-C2CA-42E0-BB1B-ED30818AB86E}"/>
              </a:ext>
            </a:extLst>
          </p:cNvPr>
          <p:cNvSpPr>
            <a:spLocks noGrp="1"/>
          </p:cNvSpPr>
          <p:nvPr/>
        </p:nvSpPr>
        <p:spPr>
          <a:xfrm>
            <a:off x="514350" y="2070878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2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Grassland: 166 trees/ha; 2m strips / 10m rows</a:t>
            </a:r>
          </a:p>
        </p:txBody>
      </p:sp>
      <p:sp>
        <p:nvSpPr>
          <p:cNvPr id="18" name="Alleys retain their previous use">
            <a:extLst>
              <a:ext uri="{FF2B5EF4-FFF2-40B4-BE49-F238E27FC236}">
                <a16:creationId xmlns:a16="http://schemas.microsoft.com/office/drawing/2014/main" id="{CBDAD1FF-FABE-4126-9367-4C619E5C1F84}"/>
              </a:ext>
            </a:extLst>
          </p:cNvPr>
          <p:cNvSpPr>
            <a:spLocks noGrp="1"/>
          </p:cNvSpPr>
          <p:nvPr/>
        </p:nvSpPr>
        <p:spPr>
          <a:xfrm>
            <a:off x="514350" y="2244233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02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2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Alleys retain their previous use</a:t>
            </a:r>
          </a:p>
        </p:txBody>
      </p:sp>
      <p:sp>
        <p:nvSpPr>
          <p:cNvPr id="19" name="Mean tree biomass over time">
            <a:extLst>
              <a:ext uri="{FF2B5EF4-FFF2-40B4-BE49-F238E27FC236}">
                <a16:creationId xmlns:a16="http://schemas.microsoft.com/office/drawing/2014/main" id="{3B69A373-3CDC-4AF4-BA2E-62F7B329593A}"/>
              </a:ext>
            </a:extLst>
          </p:cNvPr>
          <p:cNvSpPr>
            <a:spLocks noGrp="1"/>
          </p:cNvSpPr>
          <p:nvPr/>
        </p:nvSpPr>
        <p:spPr>
          <a:xfrm>
            <a:off x="5048250" y="1486043"/>
            <a:ext cx="4248150" cy="1009650"/>
          </a:xfrm>
          <a:prstGeom prst="roundRect">
            <a:avLst>
              <a:gd name="adj" fmla="val 16981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Mean tree biomass over time">
            <a:extLst>
              <a:ext uri="{FF2B5EF4-FFF2-40B4-BE49-F238E27FC236}">
                <a16:creationId xmlns:a16="http://schemas.microsoft.com/office/drawing/2014/main" id="{7F2846B5-C28E-4231-88EE-A2FEC0ED8C05}"/>
              </a:ext>
            </a:extLst>
          </p:cNvPr>
          <p:cNvSpPr>
            <a:spLocks noGrp="1"/>
          </p:cNvSpPr>
          <p:nvPr/>
        </p:nvSpPr>
        <p:spPr>
          <a:xfrm>
            <a:off x="5095875" y="1495568"/>
            <a:ext cx="41529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tree biomass over time</a:t>
            </a:r>
          </a:p>
        </p:txBody>
      </p:sp>
      <p:sp>
        <p:nvSpPr>
          <p:cNvPr id="21" name="Mean tree dry biomass at each measured age">
            <a:extLst>
              <a:ext uri="{FF2B5EF4-FFF2-40B4-BE49-F238E27FC236}">
                <a16:creationId xmlns:a16="http://schemas.microsoft.com/office/drawing/2014/main" id="{05FDD4BD-8014-4270-9F19-795BED95A6DE}"/>
              </a:ext>
            </a:extLst>
          </p:cNvPr>
          <p:cNvSpPr>
            <a:spLocks noGrp="1"/>
          </p:cNvSpPr>
          <p:nvPr/>
        </p:nvSpPr>
        <p:spPr>
          <a:xfrm>
            <a:off x="5143500" y="1724168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tree dry biomass at each measured age</a:t>
            </a:r>
          </a:p>
        </p:txBody>
      </p:sp>
      <p:sp>
        <p:nvSpPr>
          <p:cNvPr id="22" name="Linear interpolation between measured ages">
            <a:extLst>
              <a:ext uri="{FF2B5EF4-FFF2-40B4-BE49-F238E27FC236}">
                <a16:creationId xmlns:a16="http://schemas.microsoft.com/office/drawing/2014/main" id="{E1FDAC1B-59E0-439D-AF7C-EEC8F8B2F4A5}"/>
              </a:ext>
            </a:extLst>
          </p:cNvPr>
          <p:cNvSpPr>
            <a:spLocks noGrp="1"/>
          </p:cNvSpPr>
          <p:nvPr/>
        </p:nvSpPr>
        <p:spPr>
          <a:xfrm>
            <a:off x="5143500" y="1897523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Linear interpolation between measured ages</a:t>
            </a:r>
          </a:p>
        </p:txBody>
      </p:sp>
      <p:sp>
        <p:nvSpPr>
          <p:cNvPr id="23" name="Use ages 1-30; assume zero biomass at age zero">
            <a:extLst>
              <a:ext uri="{FF2B5EF4-FFF2-40B4-BE49-F238E27FC236}">
                <a16:creationId xmlns:a16="http://schemas.microsoft.com/office/drawing/2014/main" id="{BD822784-B713-42E6-8A5B-3B5438A7C3C9}"/>
              </a:ext>
            </a:extLst>
          </p:cNvPr>
          <p:cNvSpPr>
            <a:spLocks noGrp="1"/>
          </p:cNvSpPr>
          <p:nvPr/>
        </p:nvSpPr>
        <p:spPr>
          <a:xfrm>
            <a:off x="5143500" y="2070878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ages 1-30; assume zero biomass at age zero</a:t>
            </a:r>
          </a:p>
        </p:txBody>
      </p:sp>
      <p:sp>
        <p:nvSpPr>
          <p:cNvPr id="24" name="Same growth assumed across planting layouts">
            <a:extLst>
              <a:ext uri="{FF2B5EF4-FFF2-40B4-BE49-F238E27FC236}">
                <a16:creationId xmlns:a16="http://schemas.microsoft.com/office/drawing/2014/main" id="{11F394F0-5246-43A0-B443-47F40D2493DF}"/>
              </a:ext>
            </a:extLst>
          </p:cNvPr>
          <p:cNvSpPr>
            <a:spLocks noGrp="1"/>
          </p:cNvSpPr>
          <p:nvPr/>
        </p:nvSpPr>
        <p:spPr>
          <a:xfrm>
            <a:off x="5143500" y="2244233"/>
            <a:ext cx="40576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growth assumed across planting layouts</a:t>
            </a:r>
          </a:p>
        </p:txBody>
      </p:sp>
      <p:sp>
        <p:nvSpPr>
          <p:cNvPr id="25" name="Biomass by planting cohort">
            <a:extLst>
              <a:ext uri="{FF2B5EF4-FFF2-40B4-BE49-F238E27FC236}">
                <a16:creationId xmlns:a16="http://schemas.microsoft.com/office/drawing/2014/main" id="{46C45889-6266-455E-8723-8136F0A80161}"/>
              </a:ext>
            </a:extLst>
          </p:cNvPr>
          <p:cNvSpPr>
            <a:spLocks noGrp="1"/>
          </p:cNvSpPr>
          <p:nvPr/>
        </p:nvSpPr>
        <p:spPr>
          <a:xfrm>
            <a:off x="419100" y="2895743"/>
            <a:ext cx="8877300" cy="66675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Biomass by planting cohort">
            <a:extLst>
              <a:ext uri="{FF2B5EF4-FFF2-40B4-BE49-F238E27FC236}">
                <a16:creationId xmlns:a16="http://schemas.microsoft.com/office/drawing/2014/main" id="{4122F7F6-16AF-4DE1-A5B1-CD893B8F09F1}"/>
              </a:ext>
            </a:extLst>
          </p:cNvPr>
          <p:cNvSpPr>
            <a:spLocks noGrp="1"/>
          </p:cNvSpPr>
          <p:nvPr/>
        </p:nvSpPr>
        <p:spPr>
          <a:xfrm>
            <a:off x="466725" y="2905268"/>
            <a:ext cx="87820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Biomass by planting cohort</a:t>
            </a:r>
          </a:p>
        </p:txBody>
      </p:sp>
      <p:sp>
        <p:nvSpPr>
          <p:cNvPr id="27" name="For every year in 2027-2056: determine cohort age, area and tree count">
            <a:extLst>
              <a:ext uri="{FF2B5EF4-FFF2-40B4-BE49-F238E27FC236}">
                <a16:creationId xmlns:a16="http://schemas.microsoft.com/office/drawing/2014/main" id="{C645AFD4-D971-4F3A-A67B-0502B9D89B03}"/>
              </a:ext>
            </a:extLst>
          </p:cNvPr>
          <p:cNvSpPr>
            <a:spLocks noGrp="1"/>
          </p:cNvSpPr>
          <p:nvPr/>
        </p:nvSpPr>
        <p:spPr>
          <a:xfrm>
            <a:off x="514350" y="3133868"/>
            <a:ext cx="86868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every year in 2027-2056: determine cohort age, area and tree count</a:t>
            </a:r>
          </a:p>
        </p:txBody>
      </p:sp>
      <p:sp>
        <p:nvSpPr>
          <p:cNvPr id="28" name="Tree count x dry biomass per tree at that age = cohort dry AGB">
            <a:extLst>
              <a:ext uri="{FF2B5EF4-FFF2-40B4-BE49-F238E27FC236}">
                <a16:creationId xmlns:a16="http://schemas.microsoft.com/office/drawing/2014/main" id="{4FDCDD0D-609D-4857-B948-417E5399CF8D}"/>
              </a:ext>
            </a:extLst>
          </p:cNvPr>
          <p:cNvSpPr>
            <a:spLocks noGrp="1"/>
          </p:cNvSpPr>
          <p:nvPr/>
        </p:nvSpPr>
        <p:spPr>
          <a:xfrm>
            <a:off x="514350" y="3310081"/>
            <a:ext cx="86868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Tree count x dry biomass per tree at that age = cohort dry AGB</a:t>
            </a:r>
          </a:p>
        </p:txBody>
      </p:sp>
      <p:sp>
        <p:nvSpPr>
          <p:cNvPr id="29" name="Aboveground carbon">
            <a:extLst>
              <a:ext uri="{FF2B5EF4-FFF2-40B4-BE49-F238E27FC236}">
                <a16:creationId xmlns:a16="http://schemas.microsoft.com/office/drawing/2014/main" id="{C70E9C86-DFA5-48A0-856F-257548697030}"/>
              </a:ext>
            </a:extLst>
          </p:cNvPr>
          <p:cNvSpPr>
            <a:spLocks noGrp="1"/>
          </p:cNvSpPr>
          <p:nvPr/>
        </p:nvSpPr>
        <p:spPr>
          <a:xfrm>
            <a:off x="419100" y="3876818"/>
            <a:ext cx="27051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30" name="Aboveground carbon">
            <a:extLst>
              <a:ext uri="{FF2B5EF4-FFF2-40B4-BE49-F238E27FC236}">
                <a16:creationId xmlns:a16="http://schemas.microsoft.com/office/drawing/2014/main" id="{7642CD61-A59D-4C18-99CB-04ED71EA8ED3}"/>
              </a:ext>
            </a:extLst>
          </p:cNvPr>
          <p:cNvSpPr>
            <a:spLocks noGrp="1"/>
          </p:cNvSpPr>
          <p:nvPr/>
        </p:nvSpPr>
        <p:spPr>
          <a:xfrm>
            <a:off x="466725" y="3886343"/>
            <a:ext cx="26098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GB"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AGB</a:t>
            </a: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carbon</a:t>
            </a:r>
          </a:p>
        </p:txBody>
      </p:sp>
      <p:sp>
        <p:nvSpPr>
          <p:cNvPr id="31" name="Dry AGB × 0.4884">
            <a:extLst>
              <a:ext uri="{FF2B5EF4-FFF2-40B4-BE49-F238E27FC236}">
                <a16:creationId xmlns:a16="http://schemas.microsoft.com/office/drawing/2014/main" id="{89438FB5-92BC-427E-8EA1-A3A9CB1B676E}"/>
              </a:ext>
            </a:extLst>
          </p:cNvPr>
          <p:cNvSpPr>
            <a:spLocks noGrp="1"/>
          </p:cNvSpPr>
          <p:nvPr/>
        </p:nvSpPr>
        <p:spPr>
          <a:xfrm>
            <a:off x="514350" y="4276868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Dry AGB × 0.4884</a:t>
            </a:r>
          </a:p>
        </p:txBody>
      </p:sp>
      <p:sp>
        <p:nvSpPr>
          <p:cNvPr id="32" name="Carbon fraction of shoots">
            <a:extLst>
              <a:ext uri="{FF2B5EF4-FFF2-40B4-BE49-F238E27FC236}">
                <a16:creationId xmlns:a16="http://schemas.microsoft.com/office/drawing/2014/main" id="{F272ED70-F76F-4924-A398-D4E59803F3BE}"/>
              </a:ext>
            </a:extLst>
          </p:cNvPr>
          <p:cNvSpPr>
            <a:spLocks noGrp="1"/>
          </p:cNvSpPr>
          <p:nvPr/>
        </p:nvSpPr>
        <p:spPr>
          <a:xfrm>
            <a:off x="514350" y="4453081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Carbon fraction of shoots</a:t>
            </a:r>
          </a:p>
        </p:txBody>
      </p:sp>
      <p:sp>
        <p:nvSpPr>
          <p:cNvPr id="33" name="(Schulz-Nielsen, et al., 2026)">
            <a:extLst>
              <a:ext uri="{FF2B5EF4-FFF2-40B4-BE49-F238E27FC236}">
                <a16:creationId xmlns:a16="http://schemas.microsoft.com/office/drawing/2014/main" id="{AE86CFA1-0D1E-498B-8117-F9320204645A}"/>
              </a:ext>
            </a:extLst>
          </p:cNvPr>
          <p:cNvSpPr>
            <a:spLocks noGrp="1"/>
          </p:cNvSpPr>
          <p:nvPr/>
        </p:nvSpPr>
        <p:spPr>
          <a:xfrm>
            <a:off x="514350" y="4629293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(Schulz-Nielsen, et al., 2026)</a:t>
            </a:r>
          </a:p>
        </p:txBody>
      </p:sp>
      <p:sp>
        <p:nvSpPr>
          <p:cNvPr id="34" name="Belowground carbon">
            <a:extLst>
              <a:ext uri="{FF2B5EF4-FFF2-40B4-BE49-F238E27FC236}">
                <a16:creationId xmlns:a16="http://schemas.microsoft.com/office/drawing/2014/main" id="{93DA0CC4-10AB-4126-9FCA-1E96CBB314F3}"/>
              </a:ext>
            </a:extLst>
          </p:cNvPr>
          <p:cNvSpPr>
            <a:spLocks noGrp="1"/>
          </p:cNvSpPr>
          <p:nvPr/>
        </p:nvSpPr>
        <p:spPr>
          <a:xfrm>
            <a:off x="3505200" y="3876818"/>
            <a:ext cx="27051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Belowground carbon">
            <a:extLst>
              <a:ext uri="{FF2B5EF4-FFF2-40B4-BE49-F238E27FC236}">
                <a16:creationId xmlns:a16="http://schemas.microsoft.com/office/drawing/2014/main" id="{BCF20A03-E795-49B1-B06E-F4D30CB5E7BA}"/>
              </a:ext>
            </a:extLst>
          </p:cNvPr>
          <p:cNvSpPr>
            <a:spLocks noGrp="1"/>
          </p:cNvSpPr>
          <p:nvPr/>
        </p:nvSpPr>
        <p:spPr>
          <a:xfrm>
            <a:off x="3552825" y="3886343"/>
            <a:ext cx="26098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GB"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BGB</a:t>
            </a: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carbon</a:t>
            </a:r>
          </a:p>
        </p:txBody>
      </p:sp>
      <p:sp>
        <p:nvSpPr>
          <p:cNvPr id="36" name="Dry AGB × 0.26 × 0.4690">
            <a:extLst>
              <a:ext uri="{FF2B5EF4-FFF2-40B4-BE49-F238E27FC236}">
                <a16:creationId xmlns:a16="http://schemas.microsoft.com/office/drawing/2014/main" id="{6F196DEF-BDD2-47A4-B6DB-2AA1CFD9E704}"/>
              </a:ext>
            </a:extLst>
          </p:cNvPr>
          <p:cNvSpPr>
            <a:spLocks noGrp="1"/>
          </p:cNvSpPr>
          <p:nvPr/>
        </p:nvSpPr>
        <p:spPr>
          <a:xfrm>
            <a:off x="3600450" y="4191143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Dry AGB × 0.26 × 0.4690</a:t>
            </a:r>
          </a:p>
        </p:txBody>
      </p:sp>
      <p:sp>
        <p:nvSpPr>
          <p:cNvPr id="37" name="Root:shoot dry-mass ratio (Cairns">
            <a:extLst>
              <a:ext uri="{FF2B5EF4-FFF2-40B4-BE49-F238E27FC236}">
                <a16:creationId xmlns:a16="http://schemas.microsoft.com/office/drawing/2014/main" id="{2E8B79EE-8EE2-449F-A3C3-6253D97405F0}"/>
              </a:ext>
            </a:extLst>
          </p:cNvPr>
          <p:cNvSpPr>
            <a:spLocks noGrp="1"/>
          </p:cNvSpPr>
          <p:nvPr/>
        </p:nvSpPr>
        <p:spPr>
          <a:xfrm>
            <a:off x="3600450" y="4367356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Root:shoot</a:t>
            </a: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dry-mass ratio (Cairns</a:t>
            </a:r>
          </a:p>
        </p:txBody>
      </p:sp>
      <p:sp>
        <p:nvSpPr>
          <p:cNvPr id="38" name="et al., 1997) and root carbon fraction">
            <a:extLst>
              <a:ext uri="{FF2B5EF4-FFF2-40B4-BE49-F238E27FC236}">
                <a16:creationId xmlns:a16="http://schemas.microsoft.com/office/drawing/2014/main" id="{160A827D-5DC8-43E8-88F2-FCAA227BE913}"/>
              </a:ext>
            </a:extLst>
          </p:cNvPr>
          <p:cNvSpPr>
            <a:spLocks noGrp="1"/>
          </p:cNvSpPr>
          <p:nvPr/>
        </p:nvSpPr>
        <p:spPr>
          <a:xfrm>
            <a:off x="3600450" y="4543568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et al., 1997) and root carbon fraction</a:t>
            </a:r>
          </a:p>
        </p:txBody>
      </p:sp>
      <p:sp>
        <p:nvSpPr>
          <p:cNvPr id="39" name="(Schulz-Nielsen, et al., 2026)">
            <a:extLst>
              <a:ext uri="{FF2B5EF4-FFF2-40B4-BE49-F238E27FC236}">
                <a16:creationId xmlns:a16="http://schemas.microsoft.com/office/drawing/2014/main" id="{E729C4B8-EE7F-475B-947B-83B0ACA550D1}"/>
              </a:ext>
            </a:extLst>
          </p:cNvPr>
          <p:cNvSpPr>
            <a:spLocks noGrp="1"/>
          </p:cNvSpPr>
          <p:nvPr/>
        </p:nvSpPr>
        <p:spPr>
          <a:xfrm>
            <a:off x="3600450" y="4719781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(Schulz-Nielsen, et al., 2026)</a:t>
            </a:r>
          </a:p>
        </p:txBody>
      </p:sp>
      <p:sp>
        <p:nvSpPr>
          <p:cNvPr id="40" name="Additional soil carbon">
            <a:extLst>
              <a:ext uri="{FF2B5EF4-FFF2-40B4-BE49-F238E27FC236}">
                <a16:creationId xmlns:a16="http://schemas.microsoft.com/office/drawing/2014/main" id="{3B525CF3-CEF5-4272-89F9-58907D2DFAC0}"/>
              </a:ext>
            </a:extLst>
          </p:cNvPr>
          <p:cNvSpPr>
            <a:spLocks noGrp="1"/>
          </p:cNvSpPr>
          <p:nvPr/>
        </p:nvSpPr>
        <p:spPr>
          <a:xfrm>
            <a:off x="6591300" y="3876818"/>
            <a:ext cx="2705100" cy="1162050"/>
          </a:xfrm>
          <a:prstGeom prst="roundRect">
            <a:avLst>
              <a:gd name="adj" fmla="val 14754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41" name="Additional soil carbon">
            <a:extLst>
              <a:ext uri="{FF2B5EF4-FFF2-40B4-BE49-F238E27FC236}">
                <a16:creationId xmlns:a16="http://schemas.microsoft.com/office/drawing/2014/main" id="{9EF49EE5-9007-4BF2-B532-76E77A39491B}"/>
              </a:ext>
            </a:extLst>
          </p:cNvPr>
          <p:cNvSpPr>
            <a:spLocks noGrp="1"/>
          </p:cNvSpPr>
          <p:nvPr/>
        </p:nvSpPr>
        <p:spPr>
          <a:xfrm>
            <a:off x="6638925" y="3886343"/>
            <a:ext cx="26098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Additional </a:t>
            </a:r>
            <a:r>
              <a:rPr lang="en-GB" sz="13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SOC</a:t>
            </a:r>
            <a:endParaRPr sz="13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rees on arable:">
            <a:extLst>
              <a:ext uri="{FF2B5EF4-FFF2-40B4-BE49-F238E27FC236}">
                <a16:creationId xmlns:a16="http://schemas.microsoft.com/office/drawing/2014/main" id="{8341EE88-C7EE-4C64-82D0-CA63EA9463F1}"/>
              </a:ext>
            </a:extLst>
          </p:cNvPr>
          <p:cNvSpPr>
            <a:spLocks noGrp="1"/>
          </p:cNvSpPr>
          <p:nvPr/>
        </p:nvSpPr>
        <p:spPr>
          <a:xfrm>
            <a:off x="6891270" y="4114943"/>
            <a:ext cx="235750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Trees on arable:</a:t>
            </a:r>
          </a:p>
        </p:txBody>
      </p:sp>
      <p:sp>
        <p:nvSpPr>
          <p:cNvPr id="43" name="ΔSOCₑₛₘ/ 32 yr = 0.66 Mg C/ha/yr">
            <a:extLst>
              <a:ext uri="{FF2B5EF4-FFF2-40B4-BE49-F238E27FC236}">
                <a16:creationId xmlns:a16="http://schemas.microsoft.com/office/drawing/2014/main" id="{27AF8FDD-1F41-4E60-8084-757E58793D43}"/>
              </a:ext>
            </a:extLst>
          </p:cNvPr>
          <p:cNvSpPr>
            <a:spLocks noGrp="1"/>
          </p:cNvSpPr>
          <p:nvPr/>
        </p:nvSpPr>
        <p:spPr>
          <a:xfrm>
            <a:off x="6891270" y="4291156"/>
            <a:ext cx="235750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GB" dirty="0"/>
              <a:t>Seq. </a:t>
            </a: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SOC</a:t>
            </a:r>
            <a:r>
              <a:rPr lang="en-GB" baseline="-25000" dirty="0"/>
              <a:t>ESM</a:t>
            </a: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= 0.6</a:t>
            </a:r>
            <a:r>
              <a:rPr lang="en-GB"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Mg C/ha/yr</a:t>
            </a:r>
            <a:r>
              <a:rPr lang="en-GB"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111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× strip width × cohort age">
            <a:extLst>
              <a:ext uri="{FF2B5EF4-FFF2-40B4-BE49-F238E27FC236}">
                <a16:creationId xmlns:a16="http://schemas.microsoft.com/office/drawing/2014/main" id="{FC4BB78C-B76D-4170-8B8A-A81D9016FE08}"/>
              </a:ext>
            </a:extLst>
          </p:cNvPr>
          <p:cNvSpPr>
            <a:spLocks noGrp="1"/>
          </p:cNvSpPr>
          <p:nvPr/>
        </p:nvSpPr>
        <p:spPr>
          <a:xfrm>
            <a:off x="6891270" y="4467368"/>
            <a:ext cx="235750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GB"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× strip </a:t>
            </a: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width × cohort age</a:t>
            </a:r>
          </a:p>
        </p:txBody>
      </p:sp>
      <p:sp>
        <p:nvSpPr>
          <p:cNvPr id="45" name="Trees on grassland: zero gain">
            <a:extLst>
              <a:ext uri="{FF2B5EF4-FFF2-40B4-BE49-F238E27FC236}">
                <a16:creationId xmlns:a16="http://schemas.microsoft.com/office/drawing/2014/main" id="{2AA3A8BB-EE93-4C9B-B4BB-BFB90F92DD63}"/>
              </a:ext>
            </a:extLst>
          </p:cNvPr>
          <p:cNvSpPr>
            <a:spLocks noGrp="1"/>
          </p:cNvSpPr>
          <p:nvPr/>
        </p:nvSpPr>
        <p:spPr>
          <a:xfrm>
            <a:off x="6891270" y="4643581"/>
            <a:ext cx="235750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Trees on grassland: zero gain</a:t>
            </a:r>
          </a:p>
        </p:txBody>
      </p:sp>
      <p:sp>
        <p:nvSpPr>
          <p:cNvPr id="46" name="Alleys: zero gain">
            <a:extLst>
              <a:ext uri="{FF2B5EF4-FFF2-40B4-BE49-F238E27FC236}">
                <a16:creationId xmlns:a16="http://schemas.microsoft.com/office/drawing/2014/main" id="{C9E801EC-9C0C-4A1B-9800-BF117F91809F}"/>
              </a:ext>
            </a:extLst>
          </p:cNvPr>
          <p:cNvSpPr>
            <a:spLocks noGrp="1"/>
          </p:cNvSpPr>
          <p:nvPr/>
        </p:nvSpPr>
        <p:spPr>
          <a:xfrm>
            <a:off x="6891270" y="4819793"/>
            <a:ext cx="235750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Alleys: zero gain</a:t>
            </a:r>
          </a:p>
        </p:txBody>
      </p:sp>
      <p:sp>
        <p:nvSpPr>
          <p:cNvPr id="47" name="AGB growth over time">
            <a:extLst>
              <a:ext uri="{FF2B5EF4-FFF2-40B4-BE49-F238E27FC236}">
                <a16:creationId xmlns:a16="http://schemas.microsoft.com/office/drawing/2014/main" id="{6B4F5064-BD63-4F04-B7CC-5012EC88397D}"/>
              </a:ext>
            </a:extLst>
          </p:cNvPr>
          <p:cNvSpPr>
            <a:spLocks noGrp="1"/>
          </p:cNvSpPr>
          <p:nvPr/>
        </p:nvSpPr>
        <p:spPr>
          <a:xfrm>
            <a:off x="419100" y="5419868"/>
            <a:ext cx="2705100" cy="163830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AGB growth over time">
            <a:extLst>
              <a:ext uri="{FF2B5EF4-FFF2-40B4-BE49-F238E27FC236}">
                <a16:creationId xmlns:a16="http://schemas.microsoft.com/office/drawing/2014/main" id="{6879463E-7A1E-4597-A507-6A597D75410F}"/>
              </a:ext>
            </a:extLst>
          </p:cNvPr>
          <p:cNvSpPr>
            <a:spLocks noGrp="1"/>
          </p:cNvSpPr>
          <p:nvPr/>
        </p:nvSpPr>
        <p:spPr>
          <a:xfrm>
            <a:off x="466725" y="5429393"/>
            <a:ext cx="26098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AGB growth over time</a:t>
            </a:r>
          </a:p>
        </p:txBody>
      </p:sp>
      <p:sp>
        <p:nvSpPr>
          <p:cNvPr id="49" name="For each planting cohort:">
            <a:extLst>
              <a:ext uri="{FF2B5EF4-FFF2-40B4-BE49-F238E27FC236}">
                <a16:creationId xmlns:a16="http://schemas.microsoft.com/office/drawing/2014/main" id="{B113DA62-548D-4ACF-8D16-E99FE8495725}"/>
              </a:ext>
            </a:extLst>
          </p:cNvPr>
          <p:cNvSpPr>
            <a:spLocks noGrp="1"/>
          </p:cNvSpPr>
          <p:nvPr/>
        </p:nvSpPr>
        <p:spPr>
          <a:xfrm>
            <a:off x="514350" y="5810393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each planting cohort:</a:t>
            </a:r>
          </a:p>
        </p:txBody>
      </p:sp>
      <p:sp>
        <p:nvSpPr>
          <p:cNvPr id="50" name="•  PAIC: anual AGB carbon gain">
            <a:extLst>
              <a:ext uri="{FF2B5EF4-FFF2-40B4-BE49-F238E27FC236}">
                <a16:creationId xmlns:a16="http://schemas.microsoft.com/office/drawing/2014/main" id="{CDE01694-F26D-40E2-956E-9AFCCBE31AA8}"/>
              </a:ext>
            </a:extLst>
          </p:cNvPr>
          <p:cNvSpPr>
            <a:spLocks noGrp="1"/>
          </p:cNvSpPr>
          <p:nvPr/>
        </p:nvSpPr>
        <p:spPr>
          <a:xfrm>
            <a:off x="514350" y="5986606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PAIC: anual AGB carbon gain</a:t>
            </a:r>
          </a:p>
        </p:txBody>
      </p:sp>
      <p:sp>
        <p:nvSpPr>
          <p:cNvPr id="51" name="•  MAIC: average annual gain">
            <a:extLst>
              <a:ext uri="{FF2B5EF4-FFF2-40B4-BE49-F238E27FC236}">
                <a16:creationId xmlns:a16="http://schemas.microsoft.com/office/drawing/2014/main" id="{647EC16E-1398-423F-A4D2-32D21715A9F4}"/>
              </a:ext>
            </a:extLst>
          </p:cNvPr>
          <p:cNvSpPr>
            <a:spLocks noGrp="1"/>
          </p:cNvSpPr>
          <p:nvPr/>
        </p:nvSpPr>
        <p:spPr>
          <a:xfrm>
            <a:off x="514350" y="6162818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 MAIC: average annual gain</a:t>
            </a:r>
          </a:p>
        </p:txBody>
      </p:sp>
      <p:sp>
        <p:nvSpPr>
          <p:cNvPr id="52" name="    since planting (stock/age)">
            <a:extLst>
              <a:ext uri="{FF2B5EF4-FFF2-40B4-BE49-F238E27FC236}">
                <a16:creationId xmlns:a16="http://schemas.microsoft.com/office/drawing/2014/main" id="{B9C91EAE-3195-4203-AE57-8729EE3AA9BA}"/>
              </a:ext>
            </a:extLst>
          </p:cNvPr>
          <p:cNvSpPr>
            <a:spLocks noGrp="1"/>
          </p:cNvSpPr>
          <p:nvPr/>
        </p:nvSpPr>
        <p:spPr>
          <a:xfrm>
            <a:off x="514350" y="6339031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  since planting (stock/age)</a:t>
            </a:r>
          </a:p>
        </p:txBody>
      </p:sp>
      <p:sp>
        <p:nvSpPr>
          <p:cNvPr id="53" name="Then sum across cohorts and convert">
            <a:extLst>
              <a:ext uri="{FF2B5EF4-FFF2-40B4-BE49-F238E27FC236}">
                <a16:creationId xmlns:a16="http://schemas.microsoft.com/office/drawing/2014/main" id="{FBCCE39F-8141-42D4-ABA7-62432126DB1E}"/>
              </a:ext>
            </a:extLst>
          </p:cNvPr>
          <p:cNvSpPr>
            <a:spLocks noGrp="1"/>
          </p:cNvSpPr>
          <p:nvPr/>
        </p:nvSpPr>
        <p:spPr>
          <a:xfrm>
            <a:off x="514350" y="6691456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Then sum across cohorts and convert</a:t>
            </a:r>
          </a:p>
        </p:txBody>
      </p:sp>
      <p:sp>
        <p:nvSpPr>
          <p:cNvPr id="54" name="C to CO₂ (× 3.67)">
            <a:extLst>
              <a:ext uri="{FF2B5EF4-FFF2-40B4-BE49-F238E27FC236}">
                <a16:creationId xmlns:a16="http://schemas.microsoft.com/office/drawing/2014/main" id="{D67BE2CE-9632-4B1E-ADC5-F4CFBDB135DF}"/>
              </a:ext>
            </a:extLst>
          </p:cNvPr>
          <p:cNvSpPr>
            <a:spLocks noGrp="1"/>
          </p:cNvSpPr>
          <p:nvPr/>
        </p:nvSpPr>
        <p:spPr>
          <a:xfrm>
            <a:off x="514350" y="6867668"/>
            <a:ext cx="2514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1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 to CO₂ (× 3.67)</a:t>
            </a:r>
          </a:p>
        </p:txBody>
      </p:sp>
      <p:sp>
        <p:nvSpPr>
          <p:cNvPr id="55" name="Sum planting cohorts and land types">
            <a:extLst>
              <a:ext uri="{FF2B5EF4-FFF2-40B4-BE49-F238E27FC236}">
                <a16:creationId xmlns:a16="http://schemas.microsoft.com/office/drawing/2014/main" id="{1F5AA87D-0AEC-4AA7-9120-6D3A209BA2D3}"/>
              </a:ext>
            </a:extLst>
          </p:cNvPr>
          <p:cNvSpPr>
            <a:spLocks noGrp="1"/>
          </p:cNvSpPr>
          <p:nvPr/>
        </p:nvSpPr>
        <p:spPr>
          <a:xfrm>
            <a:off x="3505200" y="5419868"/>
            <a:ext cx="5791200" cy="676275"/>
          </a:xfrm>
          <a:prstGeom prst="roundRect">
            <a:avLst>
              <a:gd name="adj" fmla="val 25352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Sum planting cohorts and land types">
            <a:extLst>
              <a:ext uri="{FF2B5EF4-FFF2-40B4-BE49-F238E27FC236}">
                <a16:creationId xmlns:a16="http://schemas.microsoft.com/office/drawing/2014/main" id="{ABD76885-F4D0-46E3-96E4-35414A5FFA19}"/>
              </a:ext>
            </a:extLst>
          </p:cNvPr>
          <p:cNvSpPr>
            <a:spLocks noGrp="1"/>
          </p:cNvSpPr>
          <p:nvPr/>
        </p:nvSpPr>
        <p:spPr>
          <a:xfrm>
            <a:off x="3552825" y="5429393"/>
            <a:ext cx="56959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Sum planting cohorts and land types</a:t>
            </a:r>
          </a:p>
        </p:txBody>
      </p:sp>
      <p:sp>
        <p:nvSpPr>
          <p:cNvPr id="57" name="Aggregate AGB C, BGB C and additional SOC across cohorts and land use types">
            <a:extLst>
              <a:ext uri="{FF2B5EF4-FFF2-40B4-BE49-F238E27FC236}">
                <a16:creationId xmlns:a16="http://schemas.microsoft.com/office/drawing/2014/main" id="{6B641F22-AA4F-4F96-BAC6-3D3FD9BCDFF0}"/>
              </a:ext>
            </a:extLst>
          </p:cNvPr>
          <p:cNvSpPr>
            <a:spLocks noGrp="1"/>
          </p:cNvSpPr>
          <p:nvPr/>
        </p:nvSpPr>
        <p:spPr>
          <a:xfrm>
            <a:off x="3600450" y="5753243"/>
            <a:ext cx="56007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9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9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Aggregate AGB C, BGB C and additional SOC across cohorts and land use types</a:t>
            </a:r>
          </a:p>
        </p:txBody>
      </p:sp>
      <p:sp>
        <p:nvSpPr>
          <p:cNvPr id="58" name="Carbon stocks">
            <a:extLst>
              <a:ext uri="{FF2B5EF4-FFF2-40B4-BE49-F238E27FC236}">
                <a16:creationId xmlns:a16="http://schemas.microsoft.com/office/drawing/2014/main" id="{157746EF-FD2B-444B-A8BB-88A8A589F985}"/>
              </a:ext>
            </a:extLst>
          </p:cNvPr>
          <p:cNvSpPr>
            <a:spLocks noGrp="1"/>
          </p:cNvSpPr>
          <p:nvPr/>
        </p:nvSpPr>
        <p:spPr>
          <a:xfrm>
            <a:off x="3505200" y="6315218"/>
            <a:ext cx="5791200" cy="742950"/>
          </a:xfrm>
          <a:prstGeom prst="roundRect">
            <a:avLst>
              <a:gd name="adj" fmla="val 19149"/>
            </a:avLst>
          </a:prstGeom>
          <a:solidFill>
            <a:srgbClr val="FFFFFF"/>
          </a:solidFill>
          <a:ln w="16193">
            <a:solidFill>
              <a:srgbClr val="4E95D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Carbon stocks">
            <a:extLst>
              <a:ext uri="{FF2B5EF4-FFF2-40B4-BE49-F238E27FC236}">
                <a16:creationId xmlns:a16="http://schemas.microsoft.com/office/drawing/2014/main" id="{B15162F1-147E-48D6-8A65-650E091DCC79}"/>
              </a:ext>
            </a:extLst>
          </p:cNvPr>
          <p:cNvSpPr>
            <a:spLocks noGrp="1"/>
          </p:cNvSpPr>
          <p:nvPr/>
        </p:nvSpPr>
        <p:spPr>
          <a:xfrm>
            <a:off x="3552825" y="6324743"/>
            <a:ext cx="56959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Carbon stocks</a:t>
            </a:r>
          </a:p>
        </p:txBody>
      </p:sp>
      <p:sp>
        <p:nvSpPr>
          <p:cNvPr id="60" name="•   AGB">
            <a:extLst>
              <a:ext uri="{FF2B5EF4-FFF2-40B4-BE49-F238E27FC236}">
                <a16:creationId xmlns:a16="http://schemas.microsoft.com/office/drawing/2014/main" id="{72BECCD9-BCED-43AF-A02B-1618D34BB340}"/>
              </a:ext>
            </a:extLst>
          </p:cNvPr>
          <p:cNvSpPr>
            <a:spLocks noGrp="1"/>
          </p:cNvSpPr>
          <p:nvPr/>
        </p:nvSpPr>
        <p:spPr>
          <a:xfrm>
            <a:off x="3600450" y="6591443"/>
            <a:ext cx="56007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AGB</a:t>
            </a:r>
            <a:r>
              <a:rPr lang="en-GB"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separately</a:t>
            </a:r>
            <a:r>
              <a:rPr lang="en-GB" dirty="0"/>
              <a:t>; aggregate AGB + BGB + additional SOC</a:t>
            </a:r>
            <a:endParaRPr sz="112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Convert C to CO₂ (× 3.67)">
            <a:extLst>
              <a:ext uri="{FF2B5EF4-FFF2-40B4-BE49-F238E27FC236}">
                <a16:creationId xmlns:a16="http://schemas.microsoft.com/office/drawing/2014/main" id="{F4EDEF09-6066-43FC-8C36-E655D0175518}"/>
              </a:ext>
            </a:extLst>
          </p:cNvPr>
          <p:cNvSpPr>
            <a:spLocks noGrp="1"/>
          </p:cNvSpPr>
          <p:nvPr/>
        </p:nvSpPr>
        <p:spPr>
          <a:xfrm>
            <a:off x="3648075" y="6829568"/>
            <a:ext cx="56007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Convert C to CO₂ (× 3.67)</a:t>
            </a:r>
          </a:p>
        </p:txBody>
      </p:sp>
      <p:cxnSp>
        <p:nvCxnSpPr>
          <p:cNvPr id="63" name="Flow arrow">
            <a:extLst>
              <a:ext uri="{FF2B5EF4-FFF2-40B4-BE49-F238E27FC236}">
                <a16:creationId xmlns:a16="http://schemas.microsoft.com/office/drawing/2014/main" id="{3E08DFE9-197C-4B36-BE21-3DF523528867}"/>
              </a:ext>
            </a:extLst>
          </p:cNvPr>
          <p:cNvCxnSpPr/>
          <p:nvPr/>
        </p:nvCxnSpPr>
        <p:spPr>
          <a:xfrm>
            <a:off x="2543175" y="1105043"/>
            <a:ext cx="0" cy="381000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64" name="Flow arrow">
            <a:extLst>
              <a:ext uri="{FF2B5EF4-FFF2-40B4-BE49-F238E27FC236}">
                <a16:creationId xmlns:a16="http://schemas.microsoft.com/office/drawing/2014/main" id="{BF2D145A-1A0B-4099-8914-729638563308}"/>
              </a:ext>
            </a:extLst>
          </p:cNvPr>
          <p:cNvCxnSpPr/>
          <p:nvPr/>
        </p:nvCxnSpPr>
        <p:spPr>
          <a:xfrm>
            <a:off x="7172325" y="1105043"/>
            <a:ext cx="0" cy="381000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65" name="Flow arrow">
            <a:extLst>
              <a:ext uri="{FF2B5EF4-FFF2-40B4-BE49-F238E27FC236}">
                <a16:creationId xmlns:a16="http://schemas.microsoft.com/office/drawing/2014/main" id="{D7819D83-E75B-4612-885D-B3795AB66F89}"/>
              </a:ext>
            </a:extLst>
          </p:cNvPr>
          <p:cNvCxnSpPr/>
          <p:nvPr/>
        </p:nvCxnSpPr>
        <p:spPr>
          <a:xfrm>
            <a:off x="2543175" y="2495693"/>
            <a:ext cx="0" cy="400050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66" name="Flow arrow">
            <a:extLst>
              <a:ext uri="{FF2B5EF4-FFF2-40B4-BE49-F238E27FC236}">
                <a16:creationId xmlns:a16="http://schemas.microsoft.com/office/drawing/2014/main" id="{06B3CDD9-A091-4740-97EF-46A63A3FF956}"/>
              </a:ext>
            </a:extLst>
          </p:cNvPr>
          <p:cNvCxnSpPr/>
          <p:nvPr/>
        </p:nvCxnSpPr>
        <p:spPr>
          <a:xfrm>
            <a:off x="7172325" y="2495693"/>
            <a:ext cx="0" cy="400050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67" name="Flow arrow">
            <a:extLst>
              <a:ext uri="{FF2B5EF4-FFF2-40B4-BE49-F238E27FC236}">
                <a16:creationId xmlns:a16="http://schemas.microsoft.com/office/drawing/2014/main" id="{7356F412-FC55-41C2-B6F8-B8443EB355AD}"/>
              </a:ext>
            </a:extLst>
          </p:cNvPr>
          <p:cNvCxnSpPr/>
          <p:nvPr/>
        </p:nvCxnSpPr>
        <p:spPr>
          <a:xfrm>
            <a:off x="1771650" y="3562493"/>
            <a:ext cx="0" cy="314325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68" name="Flow arrow">
            <a:extLst>
              <a:ext uri="{FF2B5EF4-FFF2-40B4-BE49-F238E27FC236}">
                <a16:creationId xmlns:a16="http://schemas.microsoft.com/office/drawing/2014/main" id="{736C229C-8F22-4DF0-8662-5D8FA6EBA3C1}"/>
              </a:ext>
            </a:extLst>
          </p:cNvPr>
          <p:cNvCxnSpPr/>
          <p:nvPr/>
        </p:nvCxnSpPr>
        <p:spPr>
          <a:xfrm>
            <a:off x="4857750" y="3562493"/>
            <a:ext cx="0" cy="314325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69" name="Flow arrow">
            <a:extLst>
              <a:ext uri="{FF2B5EF4-FFF2-40B4-BE49-F238E27FC236}">
                <a16:creationId xmlns:a16="http://schemas.microsoft.com/office/drawing/2014/main" id="{859DAF29-1004-447D-BABD-DBED69DE1178}"/>
              </a:ext>
            </a:extLst>
          </p:cNvPr>
          <p:cNvCxnSpPr/>
          <p:nvPr/>
        </p:nvCxnSpPr>
        <p:spPr>
          <a:xfrm>
            <a:off x="7943850" y="3562493"/>
            <a:ext cx="0" cy="314325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70" name="Flow arrow">
            <a:extLst>
              <a:ext uri="{FF2B5EF4-FFF2-40B4-BE49-F238E27FC236}">
                <a16:creationId xmlns:a16="http://schemas.microsoft.com/office/drawing/2014/main" id="{ADD16D89-8A9C-482F-9CAD-555A96188AD7}"/>
              </a:ext>
            </a:extLst>
          </p:cNvPr>
          <p:cNvCxnSpPr/>
          <p:nvPr/>
        </p:nvCxnSpPr>
        <p:spPr>
          <a:xfrm>
            <a:off x="1771650" y="5038868"/>
            <a:ext cx="0" cy="381000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71" name="Flow arrow">
            <a:extLst>
              <a:ext uri="{FF2B5EF4-FFF2-40B4-BE49-F238E27FC236}">
                <a16:creationId xmlns:a16="http://schemas.microsoft.com/office/drawing/2014/main" id="{7086BAB9-0559-4053-A00E-46078547B031}"/>
              </a:ext>
            </a:extLst>
          </p:cNvPr>
          <p:cNvCxnSpPr>
            <a:cxnSpLocks/>
          </p:cNvCxnSpPr>
          <p:nvPr/>
        </p:nvCxnSpPr>
        <p:spPr>
          <a:xfrm>
            <a:off x="1771650" y="5038868"/>
            <a:ext cx="1781175" cy="436277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72" name="Flow arrow">
            <a:extLst>
              <a:ext uri="{FF2B5EF4-FFF2-40B4-BE49-F238E27FC236}">
                <a16:creationId xmlns:a16="http://schemas.microsoft.com/office/drawing/2014/main" id="{AB0AEC06-4CCF-41D1-9098-41B53B8944DF}"/>
              </a:ext>
            </a:extLst>
          </p:cNvPr>
          <p:cNvCxnSpPr/>
          <p:nvPr/>
        </p:nvCxnSpPr>
        <p:spPr>
          <a:xfrm>
            <a:off x="4857750" y="5038868"/>
            <a:ext cx="0" cy="381000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73" name="Flow arrow">
            <a:extLst>
              <a:ext uri="{FF2B5EF4-FFF2-40B4-BE49-F238E27FC236}">
                <a16:creationId xmlns:a16="http://schemas.microsoft.com/office/drawing/2014/main" id="{FF25A9DA-266A-48F2-A0C7-1380CE1BAF9D}"/>
              </a:ext>
            </a:extLst>
          </p:cNvPr>
          <p:cNvCxnSpPr/>
          <p:nvPr/>
        </p:nvCxnSpPr>
        <p:spPr>
          <a:xfrm>
            <a:off x="7943850" y="5038868"/>
            <a:ext cx="0" cy="381000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  <p:cxnSp>
        <p:nvCxnSpPr>
          <p:cNvPr id="74" name="Flow arrow">
            <a:extLst>
              <a:ext uri="{FF2B5EF4-FFF2-40B4-BE49-F238E27FC236}">
                <a16:creationId xmlns:a16="http://schemas.microsoft.com/office/drawing/2014/main" id="{E3C47EA1-BE08-4A82-9F5A-D8BB4F546727}"/>
              </a:ext>
            </a:extLst>
          </p:cNvPr>
          <p:cNvCxnSpPr/>
          <p:nvPr/>
        </p:nvCxnSpPr>
        <p:spPr>
          <a:xfrm>
            <a:off x="6591300" y="6096143"/>
            <a:ext cx="0" cy="219075"/>
          </a:xfrm>
          <a:prstGeom prst="straightConnector1">
            <a:avLst/>
          </a:prstGeom>
          <a:ln w="11906">
            <a:solidFill>
              <a:srgbClr val="4E95D9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425676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349</Words>
  <Application>Microsoft Office PowerPoint</Application>
  <DocSecurity>0</DocSecurity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Sofia Biffi</cp:lastModifiedBy>
  <cp:revision>5</cp:revision>
  <dcterms:created xsi:type="dcterms:W3CDTF">2026-10-27T11:49:12Z</dcterms:created>
  <dcterms:modified xsi:type="dcterms:W3CDTF">2026-10-27T14:48:41Z</dcterms:modified>
</cp:coreProperties>
</file>